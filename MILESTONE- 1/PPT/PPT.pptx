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305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6" r:id="rId9"/>
    <p:sldId id="267" r:id="rId10"/>
    <p:sldId id="262" r:id="rId11"/>
    <p:sldId id="264" r:id="rId12"/>
  </p:sldIdLst>
  <p:sldSz cx="14630400" cy="8229600"/>
  <p:notesSz cx="8229600" cy="14630400"/>
  <p:embeddedFontLst>
    <p:embeddedFont>
      <p:font typeface="Aptos Narrow" panose="020B0004020202020204" pitchFamily="34" charset="0"/>
      <p:regular r:id="rId14"/>
      <p:bold r:id="rId15"/>
      <p:italic r:id="rId16"/>
      <p:boldItalic r:id="rId17"/>
    </p:embeddedFont>
    <p:embeddedFont>
      <p:font typeface="Arial Narrow" panose="020B0606020202030204" pitchFamily="34" charset="0"/>
      <p:regular r:id="rId18"/>
      <p:bold r:id="rId19"/>
      <p:italic r:id="rId20"/>
      <p:boldItalic r:id="rId21"/>
    </p:embeddedFont>
    <p:embeddedFont>
      <p:font typeface="Century Gothic" panose="020B0502020202020204" pitchFamily="34" charset="0"/>
      <p:regular r:id="rId22"/>
      <p:bold r:id="rId23"/>
      <p:italic r:id="rId24"/>
      <p:boldItalic r:id="rId25"/>
    </p:embeddedFont>
    <p:embeddedFont>
      <p:font typeface="Garamond" panose="02020404030301010803" pitchFamily="18" charset="0"/>
      <p:regular r:id="rId26"/>
      <p:bold r:id="rId27"/>
      <p: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477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248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702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805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09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63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294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76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2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121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1635" y="285293"/>
            <a:ext cx="14067130" cy="765901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0160" y="771113"/>
            <a:ext cx="1207008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523744"/>
            <a:ext cx="12070080" cy="4718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9184" y="7569206"/>
            <a:ext cx="3291840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7952" y="7569206"/>
            <a:ext cx="6254496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563856" y="7569206"/>
            <a:ext cx="1755648" cy="3291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6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7" r:id="rId2"/>
    <p:sldLayoutId id="2147484318" r:id="rId3"/>
    <p:sldLayoutId id="2147484319" r:id="rId4"/>
    <p:sldLayoutId id="2147484320" r:id="rId5"/>
    <p:sldLayoutId id="2147484321" r:id="rId6"/>
    <p:sldLayoutId id="2147484322" r:id="rId7"/>
    <p:sldLayoutId id="2147484323" r:id="rId8"/>
    <p:sldLayoutId id="2147484325" r:id="rId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lang="en-US" sz="576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219456" indent="-219456" algn="l" defTabSz="1097280" rtl="0" eaLnBrk="1" latinLnBrk="0" hangingPunct="1">
        <a:lnSpc>
          <a:spcPct val="100000"/>
        </a:lnSpc>
        <a:spcBef>
          <a:spcPts val="108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100000"/>
        </a:lnSpc>
        <a:spcBef>
          <a:spcPts val="6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330892" y="2392203"/>
            <a:ext cx="745914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Receipt &amp; Invoice Digitiser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341" y="4053126"/>
            <a:ext cx="197406" cy="1974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9449" y="3993833"/>
            <a:ext cx="4042886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5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65286" y="3914776"/>
            <a:ext cx="13094554" cy="1151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8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A comprehensive solution for converting physical receipts into structured digital data through advanced optical character recognition and intelligent processing.                                                                                                </a:t>
            </a:r>
            <a:endParaRPr lang="en-US" sz="2800" dirty="0">
              <a:latin typeface="Arial Narrow" panose="020B06060202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7651BD-02CC-8C76-3ABE-9BBD6B2D307C}"/>
              </a:ext>
            </a:extLst>
          </p:cNvPr>
          <p:cNvSpPr txBox="1"/>
          <p:nvPr/>
        </p:nvSpPr>
        <p:spPr>
          <a:xfrm>
            <a:off x="10128739" y="6106160"/>
            <a:ext cx="4034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KAVETI HARINI</a:t>
            </a:r>
          </a:p>
          <a:p>
            <a:r>
              <a:rPr lang="en-IN" sz="2000" dirty="0"/>
              <a:t>harinikaveti2003@gmail.com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30" y="328246"/>
            <a:ext cx="5068277" cy="76024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86249" y="891659"/>
            <a:ext cx="3705344" cy="463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Milestone 1 Objective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349603" y="1740456"/>
            <a:ext cx="444579" cy="444579"/>
          </a:xfrm>
          <a:prstGeom prst="roundRect">
            <a:avLst>
              <a:gd name="adj" fmla="val 20565716"/>
            </a:avLst>
          </a:prstGeom>
          <a:solidFill>
            <a:srgbClr val="FC833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1880" y="1862733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49603" y="2333149"/>
            <a:ext cx="185261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Upload Receipt Files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49603" y="2653546"/>
            <a:ext cx="741747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Enable users to seamlessly upload receipt images in multiple formats for processing.</a:t>
            </a:r>
            <a:endParaRPr lang="en-US" sz="1150" dirty="0">
              <a:latin typeface="Arial Narrow" panose="020B0606020202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349603" y="3365540"/>
            <a:ext cx="444579" cy="444579"/>
          </a:xfrm>
          <a:prstGeom prst="roundRect">
            <a:avLst>
              <a:gd name="adj" fmla="val 20565716"/>
            </a:avLst>
          </a:prstGeom>
          <a:solidFill>
            <a:srgbClr val="FC833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1880" y="3487817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49603" y="3958233"/>
            <a:ext cx="185261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Clean Images for OCR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349603" y="4278630"/>
            <a:ext cx="741747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Apply advanced preprocessing techniques to enhance image quality and readability.</a:t>
            </a:r>
            <a:endParaRPr lang="en-US" sz="1150" dirty="0">
              <a:latin typeface="Arial Narrow" panose="020B0606020202030204" pitchFamily="34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349603" y="4990624"/>
            <a:ext cx="444579" cy="444579"/>
          </a:xfrm>
          <a:prstGeom prst="roundRect">
            <a:avLst>
              <a:gd name="adj" fmla="val 20565716"/>
            </a:avLst>
          </a:prstGeom>
          <a:solidFill>
            <a:srgbClr val="FC833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1880" y="5112901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49603" y="5583317"/>
            <a:ext cx="185261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Extract Raw Text</a:t>
            </a:r>
            <a:endParaRPr lang="en-US" sz="1450" dirty="0">
              <a:latin typeface="Arial Narrow" panose="020B060602020203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349603" y="5903714"/>
            <a:ext cx="7417475" cy="23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Convert visual receipt data into machine-readable text format using OCR technology.</a:t>
            </a:r>
            <a:endParaRPr lang="en-US" sz="1150" dirty="0">
              <a:latin typeface="Arial Narrow" panose="020B060602020203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9603" y="6552723"/>
            <a:ext cx="185261" cy="14811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52498" y="6530935"/>
            <a:ext cx="7114580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Core Focus:</a:t>
            </a:r>
            <a:r>
              <a:rPr lang="en-US" sz="11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 This milestone concentrates on transforming physical receipts into readable, structured text data that can be further processed and analysed.</a:t>
            </a:r>
            <a:endParaRPr lang="en-US" sz="115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5227" y="965359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Technologies Used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5286" y="1932086"/>
            <a:ext cx="128998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Our solution leverages a carefully selected technology stack that combines powerful libraries and frameworks to deliver robust document processing capabilities.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5286" y="3541336"/>
            <a:ext cx="299346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Streamlit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5227" y="4533259"/>
            <a:ext cx="299346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Provides an intuitive web-based user interface for seamless interaction and file management.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43958" y="3541335"/>
            <a:ext cx="299346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OpenCV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67306" y="4527971"/>
            <a:ext cx="299346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Handles sophisticated image preprocessing and enhancement operations for optimal OCR results.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69385" y="3541334"/>
            <a:ext cx="299346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Tesseract OCR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69386" y="4527971"/>
            <a:ext cx="299346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Industry-leading optical character recognition engine for accurate text extraction from images.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71465" y="3541336"/>
            <a:ext cx="299358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Python</a:t>
            </a: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71465" y="4533259"/>
            <a:ext cx="299358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Powers the backend logic, orchestrating all components and ensuring smooth data flow.</a:t>
            </a:r>
            <a:endParaRPr lang="en-US" sz="19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EEA0E8-C14A-90C3-58A0-71DA97A6564D}"/>
              </a:ext>
            </a:extLst>
          </p:cNvPr>
          <p:cNvSpPr txBox="1"/>
          <p:nvPr/>
        </p:nvSpPr>
        <p:spPr>
          <a:xfrm>
            <a:off x="972944" y="779914"/>
            <a:ext cx="81487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50" dirty="0">
                <a:latin typeface="Arial Narrow" panose="020B0606020202030204" pitchFamily="34" charset="0"/>
              </a:rPr>
              <a:t>Project Timeline – Milestone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799779-6292-A496-5FFA-BA5B4080C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698236"/>
              </p:ext>
            </p:extLst>
          </p:nvPr>
        </p:nvGraphicFramePr>
        <p:xfrm>
          <a:off x="972944" y="1750742"/>
          <a:ext cx="12397368" cy="483827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32456">
                  <a:extLst>
                    <a:ext uri="{9D8B030D-6E8A-4147-A177-3AD203B41FA5}">
                      <a16:colId xmlns:a16="http://schemas.microsoft.com/office/drawing/2014/main" val="3035452785"/>
                    </a:ext>
                  </a:extLst>
                </a:gridCol>
                <a:gridCol w="4132456">
                  <a:extLst>
                    <a:ext uri="{9D8B030D-6E8A-4147-A177-3AD203B41FA5}">
                      <a16:colId xmlns:a16="http://schemas.microsoft.com/office/drawing/2014/main" val="3321252410"/>
                    </a:ext>
                  </a:extLst>
                </a:gridCol>
                <a:gridCol w="4132456">
                  <a:extLst>
                    <a:ext uri="{9D8B030D-6E8A-4147-A177-3AD203B41FA5}">
                      <a16:colId xmlns:a16="http://schemas.microsoft.com/office/drawing/2014/main" val="582133588"/>
                    </a:ext>
                  </a:extLst>
                </a:gridCol>
              </a:tblGrid>
              <a:tr h="664842">
                <a:tc>
                  <a:txBody>
                    <a:bodyPr/>
                    <a:lstStyle/>
                    <a:p>
                      <a:r>
                        <a:rPr lang="en-IN"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150316"/>
                  </a:ext>
                </a:extLst>
              </a:tr>
              <a:tr h="781543">
                <a:tc>
                  <a:txBody>
                    <a:bodyPr/>
                    <a:lstStyle/>
                    <a:p>
                      <a:r>
                        <a:rPr lang="en-IN" dirty="0"/>
                        <a:t>File Upload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1 (Day 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image &amp; PDF upload using Stream lit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59174"/>
                  </a:ext>
                </a:extLst>
              </a:tr>
              <a:tr h="781543">
                <a:tc>
                  <a:txBody>
                    <a:bodyPr/>
                    <a:lstStyle/>
                    <a:p>
                      <a:r>
                        <a:rPr lang="en-IN" dirty="0"/>
                        <a:t>PDF to Image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1 (Day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Converted PDF pages using pdf2image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16045"/>
                  </a:ext>
                </a:extLst>
              </a:tr>
              <a:tr h="781543">
                <a:tc>
                  <a:txBody>
                    <a:bodyPr/>
                    <a:lstStyle/>
                    <a:p>
                      <a:r>
                        <a:rPr lang="en-IN" dirty="0"/>
                        <a:t>Image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1 (Day 4–5)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Gray </a:t>
                      </a:r>
                      <a:r>
                        <a:rPr lang="fr-FR" dirty="0" err="1"/>
                        <a:t>scale</a:t>
                      </a:r>
                      <a:r>
                        <a:rPr lang="fr-FR" dirty="0"/>
                        <a:t>, noise </a:t>
                      </a:r>
                      <a:r>
                        <a:rPr lang="fr-FR" dirty="0" err="1"/>
                        <a:t>removal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contrast</a:t>
                      </a:r>
                      <a:endParaRPr lang="fr-FR" dirty="0"/>
                    </a:p>
                    <a:p>
                      <a:r>
                        <a:rPr lang="fr-FR" dirty="0" err="1"/>
                        <a:t>enhancement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713638"/>
                  </a:ext>
                </a:extLst>
              </a:tr>
              <a:tr h="711061">
                <a:tc>
                  <a:txBody>
                    <a:bodyPr/>
                    <a:lstStyle/>
                    <a:p>
                      <a:r>
                        <a:rPr lang="en-IN" dirty="0"/>
                        <a:t>OCR Text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2 (Day 1–2)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Extracted text using Tesseract OCR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88040"/>
                  </a:ext>
                </a:extLst>
              </a:tr>
              <a:tr h="781543">
                <a:tc>
                  <a:txBody>
                    <a:bodyPr/>
                    <a:lstStyle/>
                    <a:p>
                      <a:r>
                        <a:rPr lang="en-IN" dirty="0"/>
                        <a:t>Testing &amp;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Week 2 (Day 3–4)</a:t>
                      </a:r>
                      <a:br>
                        <a:rPr lang="en-IN" dirty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Tested with sample receipts and verified output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126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82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9730" y="1187648"/>
            <a:ext cx="621875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File Upload Implementation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13535" y="2489970"/>
            <a:ext cx="3181231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Document Ingestion System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98219" y="3021814"/>
            <a:ext cx="5920264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450"/>
              </a:lnSpc>
              <a:buNone/>
            </a:pP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Our robust file upload mechanism supports multiple formats to accommodate various receipt types and sources. The system intelligently handles different file formats whilst maintaining data integrity throughout the ingestion process.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965227" y="4341124"/>
            <a:ext cx="5920264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JPG &amp; PNG formats</a:t>
            </a: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 for standard image receipts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965227" y="4774080"/>
            <a:ext cx="5920264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PDF support</a:t>
            </a: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 with multi-page document handling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65227" y="5157916"/>
            <a:ext cx="5920264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500" b="1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Streamlit integration</a:t>
            </a: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 for user-friendly uploads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18934" y="1055013"/>
            <a:ext cx="3788331" cy="91440"/>
          </a:xfrm>
          <a:prstGeom prst="roundRect">
            <a:avLst>
              <a:gd name="adj" fmla="val 191842"/>
            </a:avLst>
          </a:prstGeom>
          <a:solidFill>
            <a:srgbClr val="FC8337"/>
          </a:solidFill>
          <a:ln/>
        </p:spPr>
      </p:sp>
      <p:sp>
        <p:nvSpPr>
          <p:cNvPr id="10" name="Shape 8"/>
          <p:cNvSpPr/>
          <p:nvPr/>
        </p:nvSpPr>
        <p:spPr>
          <a:xfrm>
            <a:off x="10233422" y="752952"/>
            <a:ext cx="584716" cy="584716"/>
          </a:xfrm>
          <a:prstGeom prst="roundRect">
            <a:avLst>
              <a:gd name="adj" fmla="val 156384"/>
            </a:avLst>
          </a:prstGeom>
          <a:solidFill>
            <a:srgbClr val="FC8337"/>
          </a:solidFill>
          <a:ln/>
        </p:spPr>
      </p:sp>
      <p:sp>
        <p:nvSpPr>
          <p:cNvPr id="11" name="Text 9"/>
          <p:cNvSpPr/>
          <p:nvPr/>
        </p:nvSpPr>
        <p:spPr>
          <a:xfrm>
            <a:off x="10513099" y="816949"/>
            <a:ext cx="124481" cy="520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44320" y="1492210"/>
            <a:ext cx="243637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File Selection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36699" y="1921922"/>
            <a:ext cx="3352800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st.file_uploader() interface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18933" y="2661796"/>
            <a:ext cx="3788331" cy="91440"/>
          </a:xfrm>
          <a:prstGeom prst="roundRect">
            <a:avLst>
              <a:gd name="adj" fmla="val 191842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10228362" y="2478762"/>
            <a:ext cx="584716" cy="584716"/>
          </a:xfrm>
          <a:prstGeom prst="roundRect">
            <a:avLst>
              <a:gd name="adj" fmla="val 156384"/>
            </a:avLst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10491189" y="2568476"/>
            <a:ext cx="23383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836699" y="3283123"/>
            <a:ext cx="243637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Format Detection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14789" y="3768995"/>
            <a:ext cx="3352800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Automatic file type identification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18932" y="4505626"/>
            <a:ext cx="3788331" cy="91440"/>
          </a:xfrm>
          <a:prstGeom prst="roundRect">
            <a:avLst>
              <a:gd name="adj" fmla="val 191842"/>
            </a:avLst>
          </a:prstGeom>
          <a:solidFill>
            <a:srgbClr val="FC8337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2981" y="4345277"/>
            <a:ext cx="584716" cy="584716"/>
          </a:xfrm>
          <a:prstGeom prst="roundRect">
            <a:avLst>
              <a:gd name="adj" fmla="val 156384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10513099" y="4450917"/>
            <a:ext cx="233839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1800" dirty="0">
              <a:latin typeface="Arial Narrow" panose="020B0606020202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814789" y="5165298"/>
            <a:ext cx="243637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PDF Processing</a:t>
            </a:r>
            <a:endParaRPr lang="en-US" sz="1900" dirty="0">
              <a:latin typeface="Arial Narrow" panose="020B0606020202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36697" y="5592920"/>
            <a:ext cx="3352800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pdf2image conversion for PDFs</a:t>
            </a:r>
            <a:endParaRPr lang="en-US" sz="15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31" y="278093"/>
            <a:ext cx="5112434" cy="76686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4505" y="974342"/>
            <a:ext cx="4295061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Image Preprocessing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87666" y="1892379"/>
            <a:ext cx="7941469" cy="82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Receipt images often suffer from quality issues such as poor lighting, blur, or noise that significantly impact OCR accuracy. Our preprocessing pipeline addresses these challenges through a series of sophisticated enhancement techniques.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666" y="2910007"/>
            <a:ext cx="858917" cy="10307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18271" y="3081695"/>
            <a:ext cx="214753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Grayscale Conversion</a:t>
            </a:r>
            <a:endParaRPr lang="en-US" sz="1650" dirty="0">
              <a:latin typeface="Arial Narrow" panose="020B060602020203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18271" y="3453170"/>
            <a:ext cx="691086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Simplifies image data whilst preserving essential text information for processing.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666" y="3940731"/>
            <a:ext cx="858917" cy="10307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18271" y="4112419"/>
            <a:ext cx="2263735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Contrast Enhancement</a:t>
            </a:r>
            <a:endParaRPr lang="en-US" sz="1650" dirty="0">
              <a:latin typeface="Arial Narrow" panose="020B0606020202030204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118271" y="4483894"/>
            <a:ext cx="691086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CLAHE algorithm improves text visibility and sharpness across varying lighting conditions.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7666" y="4971455"/>
            <a:ext cx="858917" cy="10307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18271" y="5143143"/>
            <a:ext cx="2147530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Noise Removal</a:t>
            </a:r>
            <a:endParaRPr lang="en-US" sz="1650" dirty="0">
              <a:latin typeface="Arial Narrow" panose="020B0606020202030204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118271" y="5514618"/>
            <a:ext cx="6910864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Gaussian blur filtering eliminates unwanted artifacts and smooths image texture.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45317" y="6388656"/>
            <a:ext cx="7683817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Effective preprocessing can improve OCR accuracy by up to 40%, transforming challenging receipts into clean, readable documents.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6087666" y="6195417"/>
            <a:ext cx="22860" cy="936069"/>
          </a:xfrm>
          <a:prstGeom prst="rect">
            <a:avLst/>
          </a:prstGeom>
          <a:solidFill>
            <a:srgbClr val="FC833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014" y="316521"/>
            <a:ext cx="4982309" cy="7620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7928" y="960120"/>
            <a:ext cx="4057174" cy="507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OCR Text Extraction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7928" y="1872972"/>
            <a:ext cx="2772489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Aptos Narrow" panose="020B0004020202020204" pitchFamily="34" charset="0"/>
                <a:ea typeface="Saira Medium" pitchFamily="34" charset="-122"/>
                <a:cs typeface="Saira Medium" pitchFamily="34" charset="-120"/>
              </a:rPr>
              <a:t>Optical Character Recognition</a:t>
            </a:r>
            <a:endParaRPr lang="en-US" sz="1550" dirty="0">
              <a:latin typeface="Aptos Narrow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67928" y="2288858"/>
            <a:ext cx="3806190" cy="1557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At the heart of our system lies Tesseract OCR, a powerful open-source engine that converts preprocessed images into machine-readable text. The extraction process analyses character patterns, recognises text structures, and outputs formatted data.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67928" y="3992166"/>
            <a:ext cx="380619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50" dirty="0">
                <a:solidFill>
                  <a:schemeClr val="bg1"/>
                </a:solidFill>
                <a:highlight>
                  <a:srgbClr val="101010"/>
                </a:highlight>
                <a:latin typeface="Aptos Narrow" panose="020B0004020202020204" pitchFamily="34" charset="0"/>
                <a:ea typeface="Consolas" pitchFamily="34" charset="-122"/>
                <a:cs typeface="Consolas" pitchFamily="34" charset="-120"/>
              </a:rPr>
              <a:t>pytesseract.image_to_string()</a:t>
            </a:r>
            <a:r>
              <a:rPr lang="en-US" sz="1250" dirty="0">
                <a:solidFill>
                  <a:schemeClr val="bg1"/>
                </a:solidFill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function serves as our primary interface, processing cleaned images and returning comprehensive text output that captures all visible information from the receipt.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77502" y="1893213"/>
            <a:ext cx="16228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77502" y="2145983"/>
            <a:ext cx="3806190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9" name="Text 6"/>
          <p:cNvSpPr/>
          <p:nvPr/>
        </p:nvSpPr>
        <p:spPr>
          <a:xfrm>
            <a:off x="4777502" y="2272784"/>
            <a:ext cx="202858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Aptos Narrow" panose="020B0004020202020204" pitchFamily="34" charset="0"/>
                <a:ea typeface="Saira Medium" pitchFamily="34" charset="-122"/>
                <a:cs typeface="Saira Medium" pitchFamily="34" charset="-120"/>
              </a:rPr>
              <a:t>Image Input</a:t>
            </a:r>
            <a:endParaRPr lang="en-US" sz="1550" dirty="0">
              <a:latin typeface="Aptos Narrow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77502" y="2688669"/>
            <a:ext cx="380619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Preprocessed receipt image loaded into memory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77502" y="3232190"/>
            <a:ext cx="16228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77502" y="3484959"/>
            <a:ext cx="3806190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3" name="Text 10"/>
          <p:cNvSpPr/>
          <p:nvPr/>
        </p:nvSpPr>
        <p:spPr>
          <a:xfrm>
            <a:off x="4777502" y="3611761"/>
            <a:ext cx="207002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Aptos Narrow" panose="020B0004020202020204" pitchFamily="34" charset="0"/>
                <a:ea typeface="Saira Medium" pitchFamily="34" charset="-122"/>
                <a:cs typeface="Saira Medium" pitchFamily="34" charset="-120"/>
              </a:rPr>
              <a:t>Character Recognition</a:t>
            </a:r>
            <a:endParaRPr lang="en-US" sz="1550" dirty="0">
              <a:latin typeface="Aptos Narrow" panose="020B00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777502" y="4027646"/>
            <a:ext cx="380619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Tesseract analyses and identifies text patterns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77502" y="4571167"/>
            <a:ext cx="16228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77502" y="4823936"/>
            <a:ext cx="3806190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7502" y="4950738"/>
            <a:ext cx="202858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Aptos Narrow" panose="020B0004020202020204" pitchFamily="34" charset="0"/>
                <a:ea typeface="Saira Medium" pitchFamily="34" charset="-122"/>
                <a:cs typeface="Saira Medium" pitchFamily="34" charset="-120"/>
              </a:rPr>
              <a:t>Text Assembly</a:t>
            </a:r>
            <a:endParaRPr lang="en-US" sz="1550" dirty="0">
              <a:latin typeface="Aptos Narrow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77502" y="5366623"/>
            <a:ext cx="380619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Characters combined into words and sentences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77502" y="5910143"/>
            <a:ext cx="162282" cy="20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250" dirty="0">
              <a:latin typeface="Aptos Narrow" panose="020B00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77502" y="6162913"/>
            <a:ext cx="3806190" cy="22860"/>
          </a:xfrm>
          <a:prstGeom prst="rect">
            <a:avLst/>
          </a:prstGeom>
          <a:solidFill>
            <a:srgbClr val="FC8337"/>
          </a:solidFill>
          <a:ln/>
        </p:spPr>
      </p:sp>
      <p:sp>
        <p:nvSpPr>
          <p:cNvPr id="21" name="Text 18"/>
          <p:cNvSpPr/>
          <p:nvPr/>
        </p:nvSpPr>
        <p:spPr>
          <a:xfrm>
            <a:off x="4777502" y="6289715"/>
            <a:ext cx="202858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Aptos Narrow" panose="020B0004020202020204" pitchFamily="34" charset="0"/>
                <a:ea typeface="Saira Medium" pitchFamily="34" charset="-122"/>
                <a:cs typeface="Saira Medium" pitchFamily="34" charset="-120"/>
              </a:rPr>
              <a:t>Output Generation</a:t>
            </a:r>
            <a:endParaRPr lang="en-US" sz="1550" dirty="0">
              <a:latin typeface="Aptos Narrow" panose="020B00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77502" y="6705600"/>
            <a:ext cx="380619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latin typeface="Aptos Narrow" panose="020B0004020202020204" pitchFamily="34" charset="0"/>
                <a:ea typeface="Roboto" pitchFamily="34" charset="-122"/>
                <a:cs typeface="Roboto" pitchFamily="34" charset="-120"/>
              </a:rPr>
              <a:t>Structured text data returned for processing</a:t>
            </a:r>
            <a:endParaRPr lang="en-US" sz="1250"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177CF3-CF57-D604-A44F-5FB33209669A}"/>
              </a:ext>
            </a:extLst>
          </p:cNvPr>
          <p:cNvSpPr txBox="1"/>
          <p:nvPr/>
        </p:nvSpPr>
        <p:spPr>
          <a:xfrm>
            <a:off x="844062" y="741457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Process Flow Diagram:</a:t>
            </a:r>
            <a:endParaRPr lang="en-IN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5FB7C-A61F-4BCD-6CE1-F7B8953602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654" y="2610899"/>
            <a:ext cx="7761092" cy="39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40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739D63-2433-304E-F812-92594B16B73E}"/>
              </a:ext>
            </a:extLst>
          </p:cNvPr>
          <p:cNvSpPr txBox="1"/>
          <p:nvPr/>
        </p:nvSpPr>
        <p:spPr>
          <a:xfrm>
            <a:off x="1230923" y="823518"/>
            <a:ext cx="76786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Architectural Design</a:t>
            </a:r>
            <a:endParaRPr lang="en-IN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E55FC-F9FB-7870-626E-CBA1B4D04F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9" y="2686851"/>
            <a:ext cx="9509125" cy="368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02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331470"/>
            <a:ext cx="5113020" cy="76695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960" y="604735"/>
            <a:ext cx="4336971" cy="542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85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Sample Output</a:t>
            </a:r>
            <a:endParaRPr lang="en-US" sz="4850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07100" y="1288086"/>
            <a:ext cx="7929801" cy="555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The OCR extraction process successfully captures critical information from receipts, transforming visual data into structured text that can be further analysed and processed.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07100" y="2130478"/>
            <a:ext cx="91440" cy="1045250"/>
          </a:xfrm>
          <a:prstGeom prst="roundRect">
            <a:avLst>
              <a:gd name="adj" fmla="val 170748"/>
            </a:avLst>
          </a:prstGeom>
          <a:solidFill>
            <a:srgbClr val="FC8337"/>
          </a:solidFill>
          <a:ln/>
        </p:spPr>
      </p:sp>
      <p:sp>
        <p:nvSpPr>
          <p:cNvPr id="7" name="Text 4"/>
          <p:cNvSpPr/>
          <p:nvPr/>
        </p:nvSpPr>
        <p:spPr>
          <a:xfrm>
            <a:off x="842248" y="2156384"/>
            <a:ext cx="2198251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Merchant Information</a:t>
            </a:r>
            <a:endParaRPr lang="en-US" sz="1700" dirty="0">
              <a:latin typeface="Arial Narrow" panose="020B0606020202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2014" y="2481661"/>
            <a:ext cx="746855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Business name, location, and contact details extracted from receipt header.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07100" y="3463051"/>
            <a:ext cx="91440" cy="1045250"/>
          </a:xfrm>
          <a:prstGeom prst="roundRect">
            <a:avLst>
              <a:gd name="adj" fmla="val 170748"/>
            </a:avLst>
          </a:prstGeom>
          <a:solidFill>
            <a:srgbClr val="FC8337"/>
          </a:solidFill>
          <a:ln/>
        </p:spPr>
      </p:sp>
      <p:sp>
        <p:nvSpPr>
          <p:cNvPr id="11" name="Text 8"/>
          <p:cNvSpPr/>
          <p:nvPr/>
        </p:nvSpPr>
        <p:spPr>
          <a:xfrm>
            <a:off x="872014" y="3509627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Transaction Details</a:t>
            </a:r>
            <a:endParaRPr lang="en-US" sz="1700" dirty="0">
              <a:latin typeface="Arial Narrow" panose="020B0606020202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67251" y="3862632"/>
            <a:ext cx="746855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Date, time, and transaction reference numbers captured accurately.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7100" y="4884332"/>
            <a:ext cx="91440" cy="1045250"/>
          </a:xfrm>
          <a:prstGeom prst="roundRect">
            <a:avLst>
              <a:gd name="adj" fmla="val 170748"/>
            </a:avLst>
          </a:prstGeom>
          <a:solidFill>
            <a:srgbClr val="FC833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842248" y="4959195"/>
            <a:ext cx="2168485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Financial Data</a:t>
            </a:r>
            <a:endParaRPr lang="en-US" sz="1700" dirty="0">
              <a:latin typeface="Arial Narrow" panose="020B060602020203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37723" y="5283106"/>
            <a:ext cx="746855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Total amount, tax breakdown, and payment method information extracted.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37723" y="6173670"/>
            <a:ext cx="7669649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latin typeface="Arial Narrow" panose="020B0606020202030204" pitchFamily="34" charset="0"/>
                <a:ea typeface="Roboto" pitchFamily="34" charset="-122"/>
                <a:cs typeface="Roboto" pitchFamily="34" charset="-120"/>
              </a:rPr>
              <a:t>Example extracted text: "ABC Supermarket | Date: 15/03/2024 | Time: 14:30 | Total: ₹1,250.00"</a:t>
            </a:r>
            <a:endParaRPr lang="en-US" sz="1350" dirty="0">
              <a:latin typeface="Arial Narrow" panose="020B0606020202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8530" y="6168251"/>
            <a:ext cx="22860" cy="667822"/>
          </a:xfrm>
          <a:prstGeom prst="rect">
            <a:avLst/>
          </a:prstGeom>
          <a:solidFill>
            <a:srgbClr val="FC833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763083"/>
            <a:ext cx="7415927" cy="154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0"/>
              </a:lnSpc>
              <a:buNone/>
            </a:pPr>
            <a:r>
              <a:rPr lang="en-US" sz="9700" dirty="0">
                <a:latin typeface="Arial Narrow" panose="020B0606020202030204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9700" dirty="0">
              <a:latin typeface="Arial Narrow" panose="020B0606020202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4037" y="467641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337</TotalTime>
  <Words>669</Words>
  <Application>Microsoft Office PowerPoint</Application>
  <PresentationFormat>Custom</PresentationFormat>
  <Paragraphs>102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Century Gothic</vt:lpstr>
      <vt:lpstr>Arial Narrow</vt:lpstr>
      <vt:lpstr>Aptos Narrow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HARINI_KAVETI</dc:creator>
  <cp:lastModifiedBy>HARINI KAVETI</cp:lastModifiedBy>
  <cp:revision>12</cp:revision>
  <dcterms:created xsi:type="dcterms:W3CDTF">2026-01-12T16:13:22Z</dcterms:created>
  <dcterms:modified xsi:type="dcterms:W3CDTF">2026-02-04T13:43:30Z</dcterms:modified>
</cp:coreProperties>
</file>